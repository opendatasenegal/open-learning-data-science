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14400"/>
            <a:ext cx="1371600" cy="292608"/>
          </a:xfrm>
          <a:prstGeom prst="rect">
            <a:avLst>
              <a:gd name="adj" fmla="val 15625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FORMATION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augmentée par l'IA générative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l'exploration, l'analyse et la visualisation des données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Claude Code et les grands modèles de langage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1463040" cy="292608"/>
          </a:xfrm>
          <a:prstGeom prst="rect">
            <a:avLst/>
          </a:prstGeom>
          <a:solidFill>
            <a:srgbClr val="243656"/>
          </a:solidFill>
          <a:ln w="127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114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Claude Code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76272" y="4114800"/>
            <a:ext cx="1463040" cy="292608"/>
          </a:xfrm>
          <a:prstGeom prst="rect">
            <a:avLst/>
          </a:prstGeom>
          <a:solidFill>
            <a:srgbClr val="243656"/>
          </a:solidFill>
          <a:ln w="127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6272" y="4114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LLM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03904" y="4114800"/>
            <a:ext cx="1463040" cy="292608"/>
          </a:xfrm>
          <a:prstGeom prst="rect">
            <a:avLst/>
          </a:prstGeom>
          <a:solidFill>
            <a:srgbClr val="243656"/>
          </a:solidFill>
          <a:ln w="127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03904" y="4114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Data Analysis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31536" y="4114800"/>
            <a:ext cx="1463040" cy="292608"/>
          </a:xfrm>
          <a:prstGeom prst="rect">
            <a:avLst/>
          </a:prstGeom>
          <a:solidFill>
            <a:srgbClr val="243656"/>
          </a:solidFill>
          <a:ln w="127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1536" y="4114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NLP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59168" y="4114800"/>
            <a:ext cx="1463040" cy="292608"/>
          </a:xfrm>
          <a:prstGeom prst="rect">
            <a:avLst/>
          </a:prstGeom>
          <a:solidFill>
            <a:srgbClr val="243656"/>
          </a:solidFill>
          <a:ln w="127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59168" y="4114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Productivité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Plan du cours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1097280"/>
          </a:xfrm>
          <a:prstGeom prst="rect">
            <a:avLst/>
          </a:prstGeom>
          <a:solidFill>
            <a:srgbClr val="243656"/>
          </a:solidFill>
          <a:ln w="12700">
            <a:solidFill>
              <a:srgbClr val="0EA5E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Introduction &amp; Contexte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Qu'est-ce que l'IA générative augmente dans l'analyse de données 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206240" cy="1097280"/>
          </a:xfrm>
          <a:prstGeom prst="rect">
            <a:avLst/>
          </a:prstGeom>
          <a:solidFill>
            <a:srgbClr val="243656"/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64008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97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1389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Claude Code &amp; l'écosystème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6642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Architecture, capacités et intégration dans les workflows analytiques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267712"/>
            <a:ext cx="4206240" cy="1097280"/>
          </a:xfrm>
          <a:prstGeom prst="rect">
            <a:avLst/>
          </a:prstGeom>
          <a:solidFill>
            <a:srgbClr val="243656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67712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591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Requêtes en langage naturel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29260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Transformer des questions métier en code d'analyse automatiquement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2267712"/>
            <a:ext cx="4206240" cy="1097280"/>
          </a:xfrm>
          <a:prstGeom prst="rect">
            <a:avLst/>
          </a:prstGeom>
          <a:solidFill>
            <a:srgbClr val="243656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267712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3591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37760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Exploration &amp; Visualisation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9260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EDA automatisée, graphiques intelligents et rapports narratifs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529584"/>
            <a:ext cx="4206240" cy="1097280"/>
          </a:xfrm>
          <a:prstGeom prst="rect">
            <a:avLst/>
          </a:prstGeom>
          <a:solidFill>
            <a:srgbClr val="243656"/>
          </a:solidFill>
          <a:ln w="12700">
            <a:solidFill>
              <a:srgbClr val="F9731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29584"/>
            <a:ext cx="64008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2102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2920" y="3913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Cas d'usage avancés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41879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Pipelines, anomalies, prédictions et analyse multi-sources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3529584"/>
            <a:ext cx="4206240" cy="1097280"/>
          </a:xfrm>
          <a:prstGeom prst="rect">
            <a:avLst/>
          </a:prstGeom>
          <a:solidFill>
            <a:srgbClr val="243656"/>
          </a:solidFill>
          <a:ln w="1270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529584"/>
            <a:ext cx="64008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62102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937760" y="3913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 &amp; Bonnes pratiques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41879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Fiabilité, biais, gouvernance et validation humaine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A5E9"/>
                </a:solidFill>
              </a:rPr>
              <a:t>MODULE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Introduction &amp; Contexte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3566160"/>
          </a:xfrm>
          <a:prstGeom prst="rect">
            <a:avLst/>
          </a:prstGeom>
          <a:solidFill>
            <a:srgbClr val="243656"/>
          </a:solidFill>
          <a:ln w="12700">
            <a:solidFill>
              <a:srgbClr val="0EA5E9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1148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Définition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L'analyse de données augmentée par l'IA consiste à utiliser des modèles génératifs avancés pour automatiser l'exploration, l'analyse et la visualisation à partir de simples requêtes en langage naturel.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L'analyste dialogue avec le modèle comme avec un expert technique, sans écrire de code complexe.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1645920"/>
          </a:xfrm>
          <a:prstGeom prst="rect">
            <a:avLst/>
          </a:prstGeom>
          <a:solidFill>
            <a:srgbClr val="1C2B4A"/>
          </a:solidFill>
          <a:ln w="1270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❌  Avant l'IA augmentée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Semaines pour configurer les pipelines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Expertise SQL/Python obligatoire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Exploration manuelle fastidieuse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Rapports lents et peu adaptables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926080"/>
            <a:ext cx="4114800" cy="1737360"/>
          </a:xfrm>
          <a:prstGeom prst="rect">
            <a:avLst/>
          </a:prstGeom>
          <a:solidFill>
            <a:srgbClr val="1C2B4A"/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2999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✅  Avec l'IA augmentée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33375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Insights en quelques minutes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Langage naturel comme interface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Exploration automatique et proactive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Rapports narratifs générés automatiquement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L'impact mesurable de l'IA sur l'analyse de données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65960" cy="2377440"/>
          </a:xfrm>
          <a:prstGeom prst="rect">
            <a:avLst/>
          </a:prstGeom>
          <a:solidFill>
            <a:srgbClr val="243656"/>
          </a:solidFill>
          <a:ln w="12700">
            <a:solidFill>
              <a:srgbClr val="0EA5E9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96596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A5E9"/>
                </a:solidFill>
              </a:rPr>
              <a:t>10×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Plus rapide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pour produire un rapport d'analyse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87168" y="960120"/>
            <a:ext cx="1965960" cy="2377440"/>
          </a:xfrm>
          <a:prstGeom prst="rect">
            <a:avLst/>
          </a:prstGeom>
          <a:solidFill>
            <a:srgbClr val="243656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87168" y="960120"/>
            <a:ext cx="1965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11430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B981"/>
                </a:solidFill>
              </a:rPr>
              <a:t>70%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87168" y="1965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Réduction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78608" y="230428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du temps passé sur les tâches répétitives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08576" y="960120"/>
            <a:ext cx="1965960" cy="2377440"/>
          </a:xfrm>
          <a:prstGeom prst="rect">
            <a:avLst/>
          </a:prstGeom>
          <a:solidFill>
            <a:srgbClr val="243656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960120"/>
            <a:ext cx="1965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11430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</a:rPr>
              <a:t>3×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608576" y="1965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Plus d'insights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0016" y="230428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découverts par session d'analyse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9984" y="960120"/>
            <a:ext cx="1965960" cy="2377440"/>
          </a:xfrm>
          <a:prstGeom prst="rect">
            <a:avLst/>
          </a:prstGeom>
          <a:solidFill>
            <a:srgbClr val="243656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9984" y="960120"/>
            <a:ext cx="19659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9984" y="11430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C3AED"/>
                </a:solidFill>
              </a:rPr>
              <a:t>85%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729984" y="1965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Accessibilité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21424" y="230428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des équipes non-techniques aux données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520440"/>
            <a:ext cx="8412480" cy="1280160"/>
          </a:xfrm>
          <a:prstGeom prst="rect">
            <a:avLst/>
          </a:prstGeom>
          <a:solidFill>
            <a:srgbClr val="1C2B4A"/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520440"/>
            <a:ext cx="64008" cy="1280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61188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1F5F9"/>
                </a:solidFill>
              </a:rPr>
              <a:t>« L'IA générative ne remplace pas l'analyste — elle amplifie ses capacités, lui permettant de se concentrer sur l'interprétation stratégique plutôt que sur la mécanique technique. »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</a:rPr>
              <a:t>MODULE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Claude Code &amp; l'écosystème 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0" y="1737360"/>
            <a:ext cx="2194560" cy="128016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Claude Code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</a:rPr>
              <a:t>claude-sonnet-4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1920240" cy="731520"/>
          </a:xfrm>
          <a:prstGeom prst="rect">
            <a:avLst/>
          </a:prstGeom>
          <a:solidFill>
            <a:srgbClr val="243656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CSV / Excel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Fichiers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651760"/>
            <a:ext cx="1920240" cy="731520"/>
          </a:xfrm>
          <a:prstGeom prst="rect">
            <a:avLst/>
          </a:prstGeom>
          <a:solidFill>
            <a:srgbClr val="243656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651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SQL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Bases de données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66560" y="1097280"/>
            <a:ext cx="1920240" cy="731520"/>
          </a:xfrm>
          <a:prstGeom prst="rect">
            <a:avLst/>
          </a:prstGeom>
          <a:solidFill>
            <a:srgbClr val="243656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Python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Pandas / NumPy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66560" y="2651760"/>
            <a:ext cx="1920240" cy="731520"/>
          </a:xfrm>
          <a:prstGeom prst="rect">
            <a:avLst/>
          </a:prstGeom>
          <a:solidFill>
            <a:srgbClr val="243656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651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API / JSON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Flux temps réel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0" y="3977640"/>
            <a:ext cx="1920240" cy="731520"/>
          </a:xfrm>
          <a:prstGeom prst="rect">
            <a:avLst/>
          </a:prstGeom>
          <a:solidFill>
            <a:srgbClr val="243656"/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9776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Outputs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Code + Rapports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94560" y="1463040"/>
            <a:ext cx="1280160" cy="594360"/>
          </a:xfrm>
          <a:prstGeom prst="line">
            <a:avLst/>
          </a:prstGeom>
          <a:noFill/>
          <a:ln w="12700">
            <a:solidFill>
              <a:srgbClr val="F59E0B">
                <a:alpha val="50000"/>
              </a:srgbClr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194560" y="3017520"/>
            <a:ext cx="1280160" cy="0"/>
          </a:xfrm>
          <a:prstGeom prst="line">
            <a:avLst/>
          </a:prstGeom>
          <a:noFill/>
          <a:ln w="12700">
            <a:solidFill>
              <a:srgbClr val="F59E0B">
                <a:alpha val="50000"/>
              </a:srgbClr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766560" y="1463040"/>
            <a:ext cx="-1097280" cy="594360"/>
          </a:xfrm>
          <a:prstGeom prst="line">
            <a:avLst/>
          </a:prstGeom>
          <a:noFill/>
          <a:ln w="12700">
            <a:solidFill>
              <a:srgbClr val="7C3AED">
                <a:alpha val="50000"/>
              </a:srgbClr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766560" y="3017520"/>
            <a:ext cx="-1097280" cy="0"/>
          </a:xfrm>
          <a:prstGeom prst="line">
            <a:avLst/>
          </a:prstGeom>
          <a:noFill/>
          <a:ln w="12700">
            <a:solidFill>
              <a:srgbClr val="7C3AED">
                <a:alpha val="50000"/>
              </a:srgbClr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572000" y="3017520"/>
            <a:ext cx="0" cy="960120"/>
          </a:xfrm>
          <a:prstGeom prst="line">
            <a:avLst/>
          </a:prstGeom>
          <a:noFill/>
          <a:ln w="12700">
            <a:solidFill>
              <a:srgbClr val="10B981">
                <a:alpha val="50000"/>
              </a:srgbClr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Capacités clés de Claude Code pour l'analyse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43200" cy="1920240"/>
          </a:xfrm>
          <a:prstGeom prst="rect">
            <a:avLst/>
          </a:prstGeom>
          <a:solidFill>
            <a:srgbClr val="243656"/>
          </a:solidFill>
          <a:ln w="12700">
            <a:solidFill>
              <a:srgbClr val="0EA5E9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743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A5E9"/>
                </a:solidFill>
              </a:rPr>
              <a:t>💻  Génération de code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Produit du Python, R, SQL valide à partir d'une description en français. Pandas, NumPy, Matplotlib, Seaborn — zéro syntaxe requise.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27832" y="914400"/>
            <a:ext cx="2743200" cy="1920240"/>
          </a:xfrm>
          <a:prstGeom prst="rect">
            <a:avLst/>
          </a:prstGeom>
          <a:solidFill>
            <a:srgbClr val="243656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27832" y="91440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10789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🔍  Compréhension sémantique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64992" y="146304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Comprend le contexte métier : « trouvez les clients à risque » déclenche une segmentation automatique adaptée.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35624" y="914400"/>
            <a:ext cx="2743200" cy="1920240"/>
          </a:xfrm>
          <a:prstGeom prst="rect">
            <a:avLst/>
          </a:prstGeom>
          <a:solidFill>
            <a:srgbClr val="243656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35624" y="91440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10789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📊  Visualisation narrative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72784" y="146304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Choisit le type de graphique adapté et ajoute des annotations, titres et commentaires interprétatifs.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2743200" cy="1920240"/>
          </a:xfrm>
          <a:prstGeom prst="rect">
            <a:avLst/>
          </a:prstGeom>
          <a:solidFill>
            <a:srgbClr val="243656"/>
          </a:solidFill>
          <a:ln w="12700">
            <a:solidFill>
              <a:srgbClr val="7C3AED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1752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821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</a:rPr>
              <a:t>🔄  Itération intelligente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Affine les analyses sur retour utilisateur : « montre-moi les mêmes données par région » est exécuté immédiatement.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27832" y="3017520"/>
            <a:ext cx="2743200" cy="1920240"/>
          </a:xfrm>
          <a:prstGeom prst="rect">
            <a:avLst/>
          </a:prstGeom>
          <a:solidFill>
            <a:srgbClr val="243656"/>
          </a:solidFill>
          <a:ln w="12700">
            <a:solidFill>
              <a:srgbClr val="F9731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27832" y="3017520"/>
            <a:ext cx="2743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31821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</a:rPr>
              <a:t>📝  Rapport automatique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64992" y="356616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Génère des synthèses en language naturel avec les chiffres clés, les tendances et les recommandations.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35624" y="3017520"/>
            <a:ext cx="2743200" cy="1920240"/>
          </a:xfrm>
          <a:prstGeom prst="rect">
            <a:avLst/>
          </a:prstGeom>
          <a:solidFill>
            <a:srgbClr val="243656"/>
          </a:solidFill>
          <a:ln w="12700">
            <a:solidFill>
              <a:srgbClr val="38BDF8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35624" y="3017520"/>
            <a:ext cx="2743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31821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</a:rPr>
              <a:t>🛡️  Explication &amp; Audit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72784" y="356616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Explique chaque étape du raisonnement pour permettre la validation humaine et l'audit des résultats.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</a:rPr>
              <a:t>MODULE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Requêtes en langage naturel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Comment ça fonctionne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011680" cy="3200400"/>
          </a:xfrm>
          <a:prstGeom prst="rect">
            <a:avLst/>
          </a:prstGeom>
          <a:solidFill>
            <a:srgbClr val="243656"/>
          </a:solidFill>
          <a:ln w="12700">
            <a:solidFill>
              <a:srgbClr val="0EA5E9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1572768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Question métier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L'analyste pose une question en français naturel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3383280"/>
            <a:ext cx="18288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5643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8BDF8"/>
                </a:solidFill>
              </a:rPr>
              <a:t>« Quels produits ont le plus contribué à la hausse des ventes en Q3 ? »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31720" y="292608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1463040"/>
            <a:ext cx="2011680" cy="3200400"/>
          </a:xfrm>
          <a:prstGeom prst="rect">
            <a:avLst/>
          </a:prstGeom>
          <a:solidFill>
            <a:srgbClr val="243656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572768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60320" y="2331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Compréhension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2697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Claude analyse le contexte, les données disponibles et l'intention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0" y="3383280"/>
            <a:ext cx="18288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345643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8BDF8"/>
                </a:solidFill>
              </a:rPr>
              <a:t>Identification : données ventes, dimension produit, période Q3, mesure contribution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80560" y="292608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1463040"/>
            <a:ext cx="2011680" cy="3200400"/>
          </a:xfrm>
          <a:prstGeom prst="rect">
            <a:avLst/>
          </a:prstGeom>
          <a:solidFill>
            <a:srgbClr val="243656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0" y="1572768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09160" y="2331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Génération de code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2697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Écriture automatique du code d'analyse adapté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3383280"/>
            <a:ext cx="18288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45643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8BDF8"/>
                </a:solidFill>
              </a:rPr>
              <a:t>df.groupby('produit')['ventes'].sum().nlargest(10).plot(kind='bar')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629400" y="292608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0" y="1463040"/>
            <a:ext cx="2011680" cy="3200400"/>
          </a:xfrm>
          <a:prstGeom prst="rect">
            <a:avLst/>
          </a:prstGeom>
          <a:solidFill>
            <a:srgbClr val="243656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52360" y="1572768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58000" y="2331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Résultat + Narratif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2697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Exécution, visualisation et commentaire interprétatif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58000" y="3383280"/>
            <a:ext cx="18288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345643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8BDF8"/>
                </a:solidFill>
              </a:rPr>
              <a:t>« Le produit X représente 34% de la croissance avec +€2.1M vs Q2 »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Exemples de prompts efficaces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206240" cy="2011680"/>
          </a:xfrm>
          <a:prstGeom prst="rect">
            <a:avLst/>
          </a:prstGeom>
          <a:solidFill>
            <a:srgbClr val="243656"/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42062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📊 Exploration initiale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93192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8074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1F5F9"/>
                </a:solidFill>
              </a:rPr>
              <a:t>« Charge ce fichier CSV de ventes et donne-moi un résumé statistique complet : distribution des valeurs, données manquantes, corrélations entre variables et les 5 insights les plus importants. »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→  Statistiques descriptives + heatmap de corrélations + liste priorisée d'insights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206240" cy="2011680"/>
          </a:xfrm>
          <a:prstGeom prst="rect">
            <a:avLst/>
          </a:prstGeom>
          <a:solidFill>
            <a:srgbClr val="243656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86868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9784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🎯 Analyse ciblée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1325880"/>
            <a:ext cx="393192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38074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1F5F9"/>
                </a:solidFill>
              </a:rPr>
              <a:t>« Identifie les clients qui ont réduit leurs achats de plus de 30% par rapport à l'an dernier et segmente-les par ancienneté et valeur historique. »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92040" y="2377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→  Segmentation + graphique de dispersion + tableau des clients à risque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4206240" cy="2011680"/>
          </a:xfrm>
          <a:prstGeom prst="rect">
            <a:avLst/>
          </a:prstGeom>
          <a:solidFill>
            <a:srgbClr val="243656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017520"/>
            <a:ext cx="4206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272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📈 Prévision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393192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2958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1F5F9"/>
                </a:solidFill>
              </a:rPr>
              <a:t>« Basé sur les 18 derniers mois de données, prévis les ventes pour les 3 prochains mois avec une série temporelle. Explique les hypothèses utilisées. »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→  Modèle ARIMA/Prophet + intervalle de confiance + explication des paramètres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3017520"/>
            <a:ext cx="4206240" cy="2011680"/>
          </a:xfrm>
          <a:prstGeom prst="rect">
            <a:avLst/>
          </a:prstGeom>
          <a:solidFill>
            <a:srgbClr val="243656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3017520"/>
            <a:ext cx="4206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1272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📝 Rapport narratif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3474720"/>
            <a:ext cx="393192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52958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1F5F9"/>
                </a:solidFill>
              </a:rPr>
              <a:t>« Génère un rapport exécutif d'une page sur la performance commerciale du T3, avec les KPIs clés, les tendances et 3 recommandations actionnables. »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92040" y="4526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→  Rapport structuré avec visualisations intégrées et conclusions métier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</a:rPr>
              <a:t>MODULE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Exploration &amp; Visualisation automatisées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Pipeline d'EDA automatisé par Claude Code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1600200" cy="3200400"/>
          </a:xfrm>
          <a:prstGeom prst="rect">
            <a:avLst/>
          </a:prstGeom>
          <a:solidFill>
            <a:srgbClr val="243656"/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63040"/>
            <a:ext cx="1600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54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E9"/>
                </a:solidFill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20299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Ingestion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395728"/>
            <a:ext cx="1389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Détection type de fichier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Chargement intelligent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Inférence des types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74520" y="2560320"/>
            <a:ext cx="1188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93392" y="1463040"/>
            <a:ext cx="1600200" cy="3200400"/>
          </a:xfrm>
          <a:prstGeom prst="rect">
            <a:avLst/>
          </a:prstGeom>
          <a:solidFill>
            <a:srgbClr val="243656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93392" y="1463040"/>
            <a:ext cx="1600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1554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993392" y="20299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Profiling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2395728"/>
            <a:ext cx="1389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Stats descriptives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Valeurs manquantes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Distributions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93592" y="2560320"/>
            <a:ext cx="1188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1463040"/>
            <a:ext cx="1600200" cy="3200400"/>
          </a:xfrm>
          <a:prstGeom prst="rect">
            <a:avLst/>
          </a:prstGeom>
          <a:solidFill>
            <a:srgbClr val="243656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12464" y="1463040"/>
            <a:ext cx="1600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12464" y="1554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712464" y="20299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Relations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22192" y="2395728"/>
            <a:ext cx="1389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Matrice corrélations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Scatter matrix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Anomalies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12664" y="2560320"/>
            <a:ext cx="1188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31536" y="1463040"/>
            <a:ext cx="1600200" cy="3200400"/>
          </a:xfrm>
          <a:prstGeom prst="rect">
            <a:avLst/>
          </a:prstGeom>
          <a:solidFill>
            <a:srgbClr val="243656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31536" y="1463040"/>
            <a:ext cx="1600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31536" y="1554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431536" y="20299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Insights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41264" y="2395728"/>
            <a:ext cx="1389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Clustering auto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Segmentation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Tendances clés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31736" y="2560320"/>
            <a:ext cx="1188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50608" y="1463040"/>
            <a:ext cx="1600200" cy="3200400"/>
          </a:xfrm>
          <a:prstGeom prst="rect">
            <a:avLst/>
          </a:prstGeom>
          <a:solidFill>
            <a:srgbClr val="243656"/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50608" y="1463040"/>
            <a:ext cx="1600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1554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</a:rPr>
              <a:t>5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150608" y="20299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Rapport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60336" y="2395728"/>
            <a:ext cx="1389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Visualisations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Narratif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Recommandations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Sélection intelligente des visualisations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88920" cy="1920240"/>
          </a:xfrm>
          <a:prstGeom prst="rect">
            <a:avLst/>
          </a:prstGeom>
          <a:solidFill>
            <a:srgbClr val="243656"/>
          </a:solidFill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278892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978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Distribution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8056" y="12710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Histogramme / Box plot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8056" y="1563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Explorer la forme d'une variable numérique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8056" y="1947672"/>
            <a:ext cx="2532888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020824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8BDF8"/>
                </a:solidFill>
              </a:rPr>
              <a:t>« Montre la distribution des montants de commande »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46120" y="868680"/>
            <a:ext cx="2788920" cy="1920240"/>
          </a:xfrm>
          <a:prstGeom prst="rect">
            <a:avLst/>
          </a:prstGeom>
          <a:solidFill>
            <a:srgbClr val="243656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868680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4136" y="978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Comparaison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74136" y="12710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Bar chart / Lollipop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74136" y="1563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Comparer des catégories entre elles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74136" y="1947672"/>
            <a:ext cx="2532888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2020824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8BDF8"/>
                </a:solidFill>
              </a:rPr>
              <a:t>« Compare les ventes par région »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72200" y="868680"/>
            <a:ext cx="2788920" cy="1920240"/>
          </a:xfrm>
          <a:prstGeom prst="rect">
            <a:avLst/>
          </a:prstGeom>
          <a:solidFill>
            <a:srgbClr val="243656"/>
          </a:solidFill>
          <a:ln w="1270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868680"/>
            <a:ext cx="27889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0216" y="978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Évolution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0216" y="12710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Line chart / Area chart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0216" y="1563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Analyser des tendances temporelles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00216" y="1947672"/>
            <a:ext cx="2532888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2020824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8BDF8"/>
                </a:solidFill>
              </a:rPr>
              <a:t>« Visualise l'évolution mensuelle du CA »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2788920" cy="1920240"/>
          </a:xfrm>
          <a:prstGeom prst="rect">
            <a:avLst/>
          </a:prstGeom>
          <a:solidFill>
            <a:srgbClr val="243656"/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926080"/>
            <a:ext cx="27889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3035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Relation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8056" y="33284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Scatter plot / Heatmap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8056" y="36210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Identifier corrélations et clusters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8056" y="4005072"/>
            <a:ext cx="2532888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" y="4078224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8BDF8"/>
                </a:solidFill>
              </a:rPr>
              <a:t>« Montre la relation prix vs quantité »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46120" y="2926080"/>
            <a:ext cx="2788920" cy="1920240"/>
          </a:xfrm>
          <a:prstGeom prst="rect">
            <a:avLst/>
          </a:prstGeom>
          <a:solidFill>
            <a:srgbClr val="243656"/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46120" y="2926080"/>
            <a:ext cx="278892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74136" y="3035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Composition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74136" y="33284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Pie / Treemap / Stacked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74136" y="36210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Parts dans un tout, hiérarchies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74136" y="4005072"/>
            <a:ext cx="2532888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47288" y="4078224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8BDF8"/>
                </a:solidFill>
              </a:rPr>
              <a:t>« Répartition du CA par catégorie produit »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72200" y="2926080"/>
            <a:ext cx="2788920" cy="1920240"/>
          </a:xfrm>
          <a:prstGeom prst="rect">
            <a:avLst/>
          </a:prstGeom>
          <a:solidFill>
            <a:srgbClr val="243656"/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2926080"/>
            <a:ext cx="278892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0216" y="3035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Géospatial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00216" y="33284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Choroplèthe / Bubble map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00216" y="36210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Données avec dimension géographique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00216" y="4005072"/>
            <a:ext cx="2532888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73368" y="4078224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8BDF8"/>
                </a:solidFill>
              </a:rPr>
              <a:t>« Carte des performances par département »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</a:rPr>
              <a:t>MODULE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Cas d'usage avancés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206240" cy="2011680"/>
          </a:xfrm>
          <a:prstGeom prst="rect">
            <a:avLst/>
          </a:prstGeom>
          <a:solidFill>
            <a:srgbClr val="243656"/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2062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🔗 Pipeline de données automatisé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" y="144475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Claude Code génère un script complet : ingestion, nettoyage, transformation et export. Le pipeline est documenté, testé et facilement modifiable.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8056" y="2084832"/>
            <a:ext cx="3950208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148840"/>
            <a:ext cx="3749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Prompt: « Crée un pipeline pour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nettoyer et agréger ces CSV »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= claude.generate_pipeline(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source='raw_data/*.csv',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steps=['deduplicate','normalize',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'aggregate_weekly']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206240" cy="2011680"/>
          </a:xfrm>
          <a:prstGeom prst="rect">
            <a:avLst/>
          </a:prstGeom>
          <a:solidFill>
            <a:srgbClr val="243656"/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005840"/>
            <a:ext cx="42062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⚠️ Détection d'anomalies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82896" y="144475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Identification automatique des outliers, fraudes potentielles ou comportements atypiques via des algorithmes adaptés au contexte (IQR, Isolation Forest, Z-score).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82896" y="2084832"/>
            <a:ext cx="3950208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2148840"/>
            <a:ext cx="3749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Prompt: « Détecte les transactions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inhabituelles dans ces données »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anomalies = claude.detect_anomalies(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method='isolation_forest',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explain=True  # Explique chaque cas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0040" y="3154680"/>
            <a:ext cx="4206240" cy="2011680"/>
          </a:xfrm>
          <a:prstGeom prst="rect">
            <a:avLst/>
          </a:prstGeom>
          <a:solidFill>
            <a:srgbClr val="243656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154680"/>
            <a:ext cx="4206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" y="3264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🤖 Modélisation prédictive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" y="35935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Sélection automatique du modèle le plus adapté, hyperparamétrage et explication des résultats en langage naturel avec les intervalles de confiance.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8056" y="4233672"/>
            <a:ext cx="3950208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4297680"/>
            <a:ext cx="3749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Prompt: « Prévis le churn client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pour les 30 prochains jours »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claude.automl(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target='churn',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explain_shap=True  # SHAP values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754880" y="3154680"/>
            <a:ext cx="4206240" cy="2011680"/>
          </a:xfrm>
          <a:prstGeom prst="rect">
            <a:avLst/>
          </a:prstGeom>
          <a:solidFill>
            <a:srgbClr val="243656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315468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3264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🔀 Analyse multi-sources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82896" y="35935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Jointure intelligente de données hétérogènes (SQL, API, fichiers), réconciliation des schémas et création d'un dataset unifié pour l'analyse.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82896" y="4233672"/>
            <a:ext cx="3950208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4297680"/>
            <a:ext cx="3749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Prompt: « Combine les données CRM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avec les logs web et les ventes »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unified = claude.merge_sources([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('sql', 'crm_db'),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('api', 'web_analytics'),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('csv', 'sales.csv')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</a:rPr>
              <a:t>MODULE 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Validation &amp; Bonnes pratiques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023360" cy="3657600"/>
          </a:xfrm>
          <a:prstGeom prst="rect">
            <a:avLst/>
          </a:prstGeom>
          <a:solidFill>
            <a:srgbClr val="243656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40233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Checklist de validation humaine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✅ Vérifier la cohérence des chiffres avec les sources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9568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✅ Contrôler les hypothèses du modèle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3408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✅ Valider les jointures et filtres appliqués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7249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✅ Tester les edge cases et valeurs extrêmes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31089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</a:rPr>
              <a:t>⚠️ Ne jamais publier sans revue humaine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4930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</a:rPr>
              <a:t>⚠️ Méfiance face aux corrélations spurieuses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87705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</a:rPr>
              <a:t>⚠️ Auditer régulièrement les outputs du modèle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42611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</a:rPr>
              <a:t>⚠️ Documenter les limitations dans les rapports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1078992"/>
            <a:ext cx="4206240" cy="3657600"/>
          </a:xfrm>
          <a:prstGeom prst="rect">
            <a:avLst/>
          </a:prstGeom>
          <a:solidFill>
            <a:srgbClr val="243656"/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078992"/>
            <a:ext cx="42062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Principes FAIR pour l'IA analytique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1618488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F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21808" y="16184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Fiable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21808" y="18928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Valider systématiquement les outputs contre des sources de vérité. Documenter les erreurs détectées.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244144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21808" y="2441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Auditble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21808" y="2715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Tracer chaque requête, le code généré et les résultats. Permettre la reproductibilité.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326440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I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21808" y="3264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Interprétable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21808" y="35387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Exiger des explications en langage naturel pour chaque analyse. Éviter les boîtes noires.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09160" y="4087368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4087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R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21808" y="4087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Responsable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21808" y="43616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Identifier et mitiger les biais. Respecter la confidentialité et les règles RGPD.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Workflow complet : de la donnée à la décision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280160"/>
            <a:ext cx="1143000" cy="1828800"/>
          </a:xfrm>
          <a:prstGeom prst="rect">
            <a:avLst/>
          </a:prstGeom>
          <a:solidFill>
            <a:srgbClr val="243656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280160"/>
            <a:ext cx="11430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4173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📂 Données brutes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21488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CSV, SQL, API, JSON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371600" y="2194560"/>
            <a:ext cx="100584" cy="0"/>
          </a:xfrm>
          <a:prstGeom prst="line">
            <a:avLst/>
          </a:prstGeom>
          <a:noFill/>
          <a:ln w="254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72184" y="1280160"/>
            <a:ext cx="1143000" cy="1828800"/>
          </a:xfrm>
          <a:prstGeom prst="rect">
            <a:avLst/>
          </a:prstGeom>
          <a:solidFill>
            <a:srgbClr val="243656"/>
          </a:solidFill>
          <a:ln w="12700">
            <a:solidFill>
              <a:srgbClr val="0EA5E9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72184" y="1280160"/>
            <a:ext cx="1143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72184" y="14173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💬 Requête NL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72184" y="21488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Question en français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15184" y="2194560"/>
            <a:ext cx="100584" cy="0"/>
          </a:xfrm>
          <a:prstGeom prst="line">
            <a:avLst/>
          </a:prstGeom>
          <a:noFill/>
          <a:ln w="254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5768" y="1280160"/>
            <a:ext cx="1143000" cy="1828800"/>
          </a:xfrm>
          <a:prstGeom prst="rect">
            <a:avLst/>
          </a:prstGeom>
          <a:solidFill>
            <a:srgbClr val="243656"/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15768" y="1280160"/>
            <a:ext cx="1143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15768" y="14173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🧠 Claude Code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15768" y="21488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Génération + Exécution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58768" y="2194560"/>
            <a:ext cx="100584" cy="0"/>
          </a:xfrm>
          <a:prstGeom prst="line">
            <a:avLst/>
          </a:prstGeom>
          <a:noFill/>
          <a:ln w="254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59352" y="1280160"/>
            <a:ext cx="1143000" cy="1828800"/>
          </a:xfrm>
          <a:prstGeom prst="rect">
            <a:avLst/>
          </a:prstGeom>
          <a:solidFill>
            <a:srgbClr val="243656"/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59352" y="1280160"/>
            <a:ext cx="1143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59352" y="14173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📊 Analyse &amp; Viz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59352" y="21488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Graphiques + Insights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102352" y="2194560"/>
            <a:ext cx="100584" cy="0"/>
          </a:xfrm>
          <a:prstGeom prst="line">
            <a:avLst/>
          </a:prstGeom>
          <a:noFill/>
          <a:ln w="254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02936" y="1280160"/>
            <a:ext cx="1143000" cy="1828800"/>
          </a:xfrm>
          <a:prstGeom prst="rect">
            <a:avLst/>
          </a:prstGeom>
          <a:solidFill>
            <a:srgbClr val="243656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02936" y="1280160"/>
            <a:ext cx="1143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02936" y="14173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✍️ Rapport 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02936" y="21488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Narratif automatique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345936" y="2194560"/>
            <a:ext cx="100584" cy="0"/>
          </a:xfrm>
          <a:prstGeom prst="line">
            <a:avLst/>
          </a:prstGeom>
          <a:noFill/>
          <a:ln w="254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1280160"/>
            <a:ext cx="1143000" cy="1828800"/>
          </a:xfrm>
          <a:prstGeom prst="rect">
            <a:avLst/>
          </a:prstGeom>
          <a:solidFill>
            <a:srgbClr val="243656"/>
          </a:solidFill>
          <a:ln w="12700">
            <a:solidFill>
              <a:srgbClr val="F9731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1280160"/>
            <a:ext cx="1143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14173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👤 Validation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46520" y="21488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Revue humaine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589520" y="2194560"/>
            <a:ext cx="100584" cy="0"/>
          </a:xfrm>
          <a:prstGeom prst="line">
            <a:avLst/>
          </a:prstGeom>
          <a:noFill/>
          <a:ln w="254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90104" y="1280160"/>
            <a:ext cx="1143000" cy="1828800"/>
          </a:xfrm>
          <a:prstGeom prst="rect">
            <a:avLst/>
          </a:prstGeom>
          <a:solidFill>
            <a:srgbClr val="243656"/>
          </a:solidFill>
          <a:ln w="12700">
            <a:solidFill>
              <a:srgbClr val="38BDF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690104" y="1280160"/>
            <a:ext cx="1143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90104" y="14173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📤 Décision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90104" y="21488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Action métier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" y="3383280"/>
            <a:ext cx="8412480" cy="1417320"/>
          </a:xfrm>
          <a:prstGeom prst="rect">
            <a:avLst/>
          </a:prstGeom>
          <a:solidFill>
            <a:srgbClr val="1C2B4A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3383280"/>
            <a:ext cx="64008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474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⏱  Gain de temps typique avec l'IA augmentée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" y="3840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EDA complète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4114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2–4h  →  15min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633472" y="3840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Rapport exécutif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633472" y="4114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1 jour  →  30min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718304" y="3840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Modèle prédictif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18304" y="4114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1–2 semaines  →  2h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03136" y="3840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Dashboard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03136" y="4114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3–5 jours  →  2h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Limites et risques à connaître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743200" cy="2011680"/>
          </a:xfrm>
          <a:prstGeom prst="rect">
            <a:avLst/>
          </a:prstGeom>
          <a:solidFill>
            <a:srgbClr val="243656"/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9326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🤥  Hallucinations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0280" y="987552"/>
            <a:ext cx="713232" cy="201168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9875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</a:rPr>
              <a:t>Élevé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48056" y="1298448"/>
            <a:ext cx="2487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Le modèle peut générer des statistiques ou conclusions plausibles mais fausses. Toujours vérifier contre les données sources.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27832" y="822960"/>
            <a:ext cx="2743200" cy="2011680"/>
          </a:xfrm>
          <a:prstGeom prst="rect">
            <a:avLst/>
          </a:prstGeom>
          <a:solidFill>
            <a:srgbClr val="243656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7832" y="82296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9326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⚖️  Biais algorithmiques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48072" y="987552"/>
            <a:ext cx="713232" cy="201168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48072" y="9875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Moyen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55848" y="1298448"/>
            <a:ext cx="2487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Les patterns dans les données d'entraînement peuvent introduire des biais dans les analyses et recommandations.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35624" y="822960"/>
            <a:ext cx="2743200" cy="2011680"/>
          </a:xfrm>
          <a:prstGeom prst="rect">
            <a:avLst/>
          </a:prstGeom>
          <a:solidFill>
            <a:srgbClr val="243656"/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35624" y="82296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9326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🔒  Confidentialité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55864" y="987552"/>
            <a:ext cx="713232" cy="201168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55864" y="9875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</a:rPr>
              <a:t>Élevé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263640" y="1298448"/>
            <a:ext cx="2487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Ne jamais envoyer de données personnelles ou sensibles à un LLM externe sans anonymisation préalable.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971800"/>
            <a:ext cx="2743200" cy="2011680"/>
          </a:xfrm>
          <a:prstGeom prst="rect">
            <a:avLst/>
          </a:prstGeom>
          <a:solidFill>
            <a:srgbClr val="243656"/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971800"/>
            <a:ext cx="2743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" y="3081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⚠️  Surconfiance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40280" y="3136392"/>
            <a:ext cx="713232" cy="201168"/>
          </a:xfrm>
          <a:prstGeom prst="rect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40280" y="313639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97316"/>
                </a:solidFill>
              </a:rPr>
              <a:t>Moyen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48056" y="3447288"/>
            <a:ext cx="2487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La fluidité des réponses peut masquer des erreurs logiques. L'IA paraît toujours sûre d'elle, même quand elle se trompe.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27832" y="2971800"/>
            <a:ext cx="2743200" cy="2011680"/>
          </a:xfrm>
          <a:prstGeom prst="rect">
            <a:avLst/>
          </a:prstGeom>
          <a:solidFill>
            <a:srgbClr val="243656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27832" y="297180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3081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🔗  Dépendance technologique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48072" y="3136392"/>
            <a:ext cx="713232" cy="201168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48072" y="313639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Faible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355848" y="3447288"/>
            <a:ext cx="2487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Risque de perte de compétences analytiques si les équipes s'appuient exclusivement sur l'IA sans comprendre les fondamentaux.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35624" y="2971800"/>
            <a:ext cx="2743200" cy="2011680"/>
          </a:xfrm>
          <a:prstGeom prst="rect">
            <a:avLst/>
          </a:prstGeom>
          <a:solidFill>
            <a:srgbClr val="243656"/>
          </a:solidFill>
          <a:ln w="12700">
            <a:solidFill>
              <a:srgbClr val="CBD5E1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35624" y="2971800"/>
            <a:ext cx="274320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3081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💰  Coût et latence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55864" y="3136392"/>
            <a:ext cx="713232" cy="201168"/>
          </a:xfrm>
          <a:prstGeom prst="rect">
            <a:avLst/>
          </a:prstGeom>
          <a:solidFill>
            <a:srgbClr val="CBD5E1">
              <a:alpha val="30000"/>
            </a:srgbClr>
          </a:solidFill>
          <a:ln w="12700">
            <a:solidFill>
              <a:srgbClr val="CBD5E1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55864" y="313639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Faible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263640" y="3447288"/>
            <a:ext cx="2487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Les appels API ont un coût et peuvent ralentir les workflows temps-réel. À anticiper dans l'architecture.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731520"/>
            <a:ext cx="4572000" cy="4572000"/>
          </a:xfrm>
          <a:prstGeom prst="ellipse">
            <a:avLst/>
          </a:prstGeom>
          <a:solidFill>
            <a:srgbClr val="0EA5E9">
              <a:alpha val="8000"/>
            </a:srgbClr>
          </a:solidFill>
          <a:ln w="12700">
            <a:solidFill>
              <a:srgbClr val="0EA5E9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Récapitulatif &amp; Points clés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8412480" cy="713232"/>
          </a:xfrm>
          <a:prstGeom prst="rect">
            <a:avLst/>
          </a:prstGeom>
          <a:solidFill>
            <a:srgbClr val="243656"/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96112"/>
            <a:ext cx="54864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024128"/>
            <a:ext cx="438912" cy="438912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24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98755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L'IA générative transforme l'analyse de données en dialogue naturel, accessible à tous les profils métier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700784"/>
            <a:ext cx="8412480" cy="713232"/>
          </a:xfrm>
          <a:prstGeom prst="rect">
            <a:avLst/>
          </a:prstGeom>
          <a:solidFill>
            <a:srgbClr val="243656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700784"/>
            <a:ext cx="54864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1828800"/>
            <a:ext cx="438912" cy="438912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" y="1792224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Claude Code automatise EDA, visualisations, modélisation et rapport — réduisant le temps analytique de 10×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05456"/>
            <a:ext cx="8412480" cy="713232"/>
          </a:xfrm>
          <a:prstGeom prst="rect">
            <a:avLst/>
          </a:prstGeom>
          <a:solidFill>
            <a:srgbClr val="243656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05456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633472"/>
            <a:ext cx="438912" cy="438912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6334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5568" y="259689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Les prompts bien formulés sont la compétence clé : précision du contexte, des données et de l'objectif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310128"/>
            <a:ext cx="8412480" cy="713232"/>
          </a:xfrm>
          <a:prstGeom prst="rect">
            <a:avLst/>
          </a:prstGeom>
          <a:solidFill>
            <a:srgbClr val="243656"/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310128"/>
            <a:ext cx="54864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438144"/>
            <a:ext cx="438912" cy="438912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438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15568" y="3401568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La validation humaine reste indispensable : l'IA augmente, elle ne remplace pas le jugement de l'analyste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114800"/>
            <a:ext cx="8412480" cy="713232"/>
          </a:xfrm>
          <a:prstGeom prst="rect">
            <a:avLst/>
          </a:prstGeom>
          <a:solidFill>
            <a:srgbClr val="243656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114800"/>
            <a:ext cx="54864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242816"/>
            <a:ext cx="438912" cy="438912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242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15568" y="4206240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Adopter les principes FAIR : Fiable, Auditable, Interprétable, Responsable pour une IA éthique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0" y="4681728"/>
            <a:ext cx="4572000" cy="365760"/>
          </a:xfrm>
          <a:prstGeom prst="rect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4681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🚀  Commencez dès aujourd'hui avec Claude Code — claude.ai/code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de données augmentée par l'IA générative</dc:title>
  <dc:subject>PptxGenJS Presentation</dc:subject>
  <dc:creator>Formation Claude Code</dc:creator>
  <cp:lastModifiedBy>Formation Claude Code</cp:lastModifiedBy>
  <cp:revision>1</cp:revision>
  <dcterms:created xsi:type="dcterms:W3CDTF">2026-03-03T19:30:43Z</dcterms:created>
  <dcterms:modified xsi:type="dcterms:W3CDTF">2026-03-03T19:30:43Z</dcterms:modified>
</cp:coreProperties>
</file>